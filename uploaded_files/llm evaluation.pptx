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7" d="100"/>
          <a:sy n="77" d="100"/>
        </p:scale>
        <p:origin x="88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ya Bharathi B" userId="b106e090df76148e" providerId="LiveId" clId="{5A942AB3-718F-4A52-BCF0-2FBDB7808CCD}"/>
    <pc:docChg chg="modSld">
      <pc:chgData name="Priya Bharathi B" userId="b106e090df76148e" providerId="LiveId" clId="{5A942AB3-718F-4A52-BCF0-2FBDB7808CCD}" dt="2025-10-21T14:48:41.728" v="5" actId="113"/>
      <pc:docMkLst>
        <pc:docMk/>
      </pc:docMkLst>
      <pc:sldChg chg="modSp mod">
        <pc:chgData name="Priya Bharathi B" userId="b106e090df76148e" providerId="LiveId" clId="{5A942AB3-718F-4A52-BCF0-2FBDB7808CCD}" dt="2025-10-21T14:48:41.728" v="5" actId="113"/>
        <pc:sldMkLst>
          <pc:docMk/>
          <pc:sldMk cId="712706113" sldId="266"/>
        </pc:sldMkLst>
        <pc:spChg chg="mod">
          <ac:chgData name="Priya Bharathi B" userId="b106e090df76148e" providerId="LiveId" clId="{5A942AB3-718F-4A52-BCF0-2FBDB7808CCD}" dt="2025-10-21T14:48:41.728" v="5" actId="113"/>
          <ac:spMkLst>
            <pc:docMk/>
            <pc:sldMk cId="712706113" sldId="266"/>
            <ac:spMk id="3" creationId="{54ECF46A-03CF-4F1E-A28C-EAD5B414C5A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A6658-4D48-13EF-AFC5-33ED2601D7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DDD397-AA12-4CA6-3381-309BF84C8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28B71-D51C-A847-F130-D66AD2AB7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BF93F-E6A3-46F8-964E-659E4F3D8590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4810E-A984-456C-25DF-9E61CF70D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6A8D0-058D-56DF-960F-ABC4E0046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3CD4D-5740-4DD4-963C-209D5E9BE7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687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8CA51-F8B7-4D39-1914-E47F4E02A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BF2DD-5153-7602-A473-A958A953D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428CE-C8AE-BE0D-9ECE-3B39A1C6E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BF93F-E6A3-46F8-964E-659E4F3D8590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70F52-AB16-3911-6DC1-363234450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6B215-4B4E-69DF-0A44-0A12E3478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3CD4D-5740-4DD4-963C-209D5E9BE7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507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9D1D7-8BF8-8F3E-CD29-FC7499ADF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F2B459-D813-E775-0295-B90C7DCBC2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9CE5D-5E79-CFE1-B10B-385792143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BF93F-E6A3-46F8-964E-659E4F3D8590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15C3E-0399-AA6A-0305-FA3B1B511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E569F2-28A9-AC2F-5B6E-ADC910424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3CD4D-5740-4DD4-963C-209D5E9BE7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6133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77A41-8DD3-C534-AC11-914689B9F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B9176-976F-AA14-EF00-CEC2EEDFD4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31C110-8210-0552-7C43-C309F9EC5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EA23BF-6706-AC61-F457-6B8244D43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BF93F-E6A3-46F8-964E-659E4F3D8590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EB99CB-802E-6BBB-FD34-6F24D0B27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400411-F7DD-CB1B-675B-99ACEF3F2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3CD4D-5740-4DD4-963C-209D5E9BE7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7649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00075-44B5-FEFB-B256-1FDC98CBD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140DB-87F0-D3C4-EEF7-EAAC57D14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7CC22-02DF-E582-9905-650793FB55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859E1B-E391-BAE3-0BA5-DADFB94854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EAEFB8-8AC3-CB70-F22A-81105B46C5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29F52C-0639-4BB4-6713-7B4F4CAE9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BF93F-E6A3-46F8-964E-659E4F3D8590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E1DD94-FCF4-4005-288D-F7F534CAF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BF897A-1C8F-7625-AD70-19B307508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3CD4D-5740-4DD4-963C-209D5E9BE7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7513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EE737-59CD-9FAD-21B0-4CF506A09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26214C-B815-781C-D5EA-E5D1838DD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BF93F-E6A3-46F8-964E-659E4F3D8590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67C14C-6389-F026-28F5-B51FA3C2B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1D0F2F-45F7-5401-E2C5-8F15058DE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3CD4D-5740-4DD4-963C-209D5E9BE7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2301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3740F4-03F9-F0BA-E666-7BEC7522B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BF93F-E6A3-46F8-964E-659E4F3D8590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63E994-8C3C-C7FF-A0E8-C83D26F77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35C779-9A37-0243-F5BE-F5E59EAB1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3CD4D-5740-4DD4-963C-209D5E9BE7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781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B3C76-FAE4-93D1-7E7A-1C7C64956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17564-C0BB-C256-DF5E-AFF9BB522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82B8C5-2514-1DB2-5623-D50B8D78F9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B03DF5-9E46-AA69-6615-FEE55C3F7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BF93F-E6A3-46F8-964E-659E4F3D8590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547EE7-CCB1-739F-6EB1-5D7AA75BD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317B12-A088-6D39-2C4A-7DA03C24E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3CD4D-5740-4DD4-963C-209D5E9BE7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286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A077A-D747-6C15-76EE-E2EC26E52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E1C0AD-6151-2CD8-E741-C88EC65659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071708-CE78-A482-5A56-6BEC6F2217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41FC7E-607C-C90A-7F61-45176AD4A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BF93F-E6A3-46F8-964E-659E4F3D8590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DBDB68-9C99-D01C-8975-F6A6F914C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E5BEEC-82EA-2665-3FE7-B24224F50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3CD4D-5740-4DD4-963C-209D5E9BE7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307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DB1B0-E778-7C2E-700D-03D92EAF4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CA024-1C9A-573B-EE22-1A676764E9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B9EF5-76F5-E51E-E46A-F96A1F2DF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BF93F-E6A3-46F8-964E-659E4F3D8590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384D7-0432-E396-E76C-EF202B43C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EFA60-39FE-54C0-1883-754F4D401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3CD4D-5740-4DD4-963C-209D5E9BE7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681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753548-C3BA-FC76-30A8-4BF5570AE0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5B9FCC-0D07-D69F-7E7E-3D64DD71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72AB3-B1C1-0E16-813B-395274550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BF93F-E6A3-46F8-964E-659E4F3D8590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97179-F32A-3D70-26C2-848DF353D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7811CF-B80B-A97A-BE0C-93F82A9F0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3CD4D-5740-4DD4-963C-209D5E9BE7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7376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3C1D10-88D6-0F7C-F552-D101749C2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865E6C-16F1-7EA0-2595-3A666E387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CA892-A10B-83F6-C9D1-F3BD5CE976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9BF93F-E6A3-46F8-964E-659E4F3D8590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A9478-55FB-E50D-AF18-051A663263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AD1A5-0033-1AB5-93D1-4BD99E49BA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B3CD4D-5740-4DD4-963C-209D5E9BE7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2241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0951B-46EF-5150-F599-436B84E724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7120" y="0"/>
            <a:ext cx="9144000" cy="3262824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Evaluating LLM Output Quality BLEU, ROUGE, and </a:t>
            </a:r>
            <a:b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Eval</a:t>
            </a:r>
            <a:endParaRPr lang="en-IN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7990F8-D168-216A-23F8-6DDE7ACE72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6220" y="3781038"/>
            <a:ext cx="9291484" cy="2110504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By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PRIYA BHARATHI B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C2931D-65BA-9E6B-8006-B3EC9C2E87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0205" y="2628718"/>
            <a:ext cx="5961905" cy="44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706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4BCC2-2EB1-A4FA-4287-DB331C332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084" y="384790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</a:t>
            </a:r>
            <a:endParaRPr lang="en-IN" sz="4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FFA8-FE2D-9D1B-A214-C01CABFF8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Models (LLMs) -&gt;ChatGPT, Gemini, and Claude are capable of generating human-like text for tasks like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translation, summarization, question answering, and content creation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However, simply generating text is not enough  we need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how good and reliable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text is.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evaluation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refers to the process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measuring the quality, accuracy, and usefulness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text produced by a language model. It helps determine how closely the model’s output matches human expectations or reference outputs.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 descr="Large Language Models – Wisecube AI ...">
            <a:extLst>
              <a:ext uri="{FF2B5EF4-FFF2-40B4-BE49-F238E27FC236}">
                <a16:creationId xmlns:a16="http://schemas.microsoft.com/office/drawing/2014/main" id="{6745AD49-4064-5B27-42EA-56FEE79527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8196" y="-137497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3047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CD3C4-28C3-46BC-7802-4B84323EB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517" y="463448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LLM Evaluation</a:t>
            </a:r>
            <a:endParaRPr lang="en-IN" sz="4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BCDF69-1706-5084-1CA6-639F517D7A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Evaluation Metrics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B821B8-5744-B6CD-7B6D-F4C7C9E8F1D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Algorithm-based measures such as 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BLEU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Bilingual Evaluation Understudy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ROUGE-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Recall-Oriented Understudy for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Gisting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Evaluation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compare generated text with reference text.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BBB439-1314-C8A0-8ACD-8467EEDB0F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Evaluation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0FD030-5C57-74F7-5BE1-07627D24A53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Qualitative assessment by human judges focusing 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Coherence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Relevance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Correctness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Fluency / Grammar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quality</a:t>
            </a:r>
          </a:p>
          <a:p>
            <a:pPr lvl="1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979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9BC24-49C5-D664-05BF-E75085923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110" y="237305"/>
            <a:ext cx="10515600" cy="1325563"/>
          </a:xfrm>
        </p:spPr>
        <p:txBody>
          <a:bodyPr/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BLEU (Bilingual Evaluation Understudy)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0DD1FF-FA52-590A-47DE-6E8F62D33B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481496"/>
                <a:ext cx="10744200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2400" b="1" dirty="0"/>
                  <a:t>Used for:</a:t>
                </a:r>
                <a:r>
                  <a:rPr lang="en-US" sz="2400" dirty="0"/>
                  <a:t> </a:t>
                </a:r>
              </a:p>
              <a:p>
                <a:pPr marL="0" indent="0">
                  <a:buNone/>
                </a:pPr>
                <a:r>
                  <a:rPr lang="en-US" sz="2400" dirty="0"/>
                  <a:t>	Machine translation and text generation tasks.</a:t>
                </a:r>
              </a:p>
              <a:p>
                <a:pPr marL="0" indent="0">
                  <a:buNone/>
                </a:pPr>
                <a:r>
                  <a:rPr lang="en-US" sz="2400" b="1" dirty="0"/>
                  <a:t>How it works:</a:t>
                </a:r>
                <a:endParaRPr lang="en-US" sz="2400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000" dirty="0"/>
                  <a:t>Break both the generated text and the reference into </a:t>
                </a:r>
                <a:r>
                  <a:rPr lang="en-US" sz="2000" i="1" dirty="0"/>
                  <a:t>n-grams</a:t>
                </a:r>
                <a:r>
                  <a:rPr lang="en-US" sz="2000" dirty="0"/>
                  <a:t> (word groups).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000" dirty="0"/>
                  <a:t>Count how many </a:t>
                </a:r>
                <a:r>
                  <a:rPr lang="en-US" sz="2000" i="1" dirty="0"/>
                  <a:t>n-grams</a:t>
                </a:r>
                <a:r>
                  <a:rPr lang="en-US" sz="2000" dirty="0"/>
                  <a:t> in the generated text also appear in the reference.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000" dirty="0"/>
                  <a:t>Calculate </a:t>
                </a:r>
                <a:r>
                  <a:rPr lang="en-US" sz="2000" b="1" dirty="0"/>
                  <a:t>precision</a:t>
                </a:r>
                <a:r>
                  <a:rPr lang="en-US" sz="2000" dirty="0"/>
                  <a:t> = (matching n-grams / total n-grams in generated text).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000" dirty="0"/>
                  <a:t>Apply a </a:t>
                </a:r>
                <a:r>
                  <a:rPr lang="en-US" sz="2000" b="1" dirty="0"/>
                  <a:t>brevity penalty</a:t>
                </a:r>
                <a:r>
                  <a:rPr lang="en-US" sz="2000" dirty="0"/>
                  <a:t> if the generated text is too short.</a:t>
                </a:r>
              </a:p>
              <a:p>
                <a:pPr marL="0" indent="0">
                  <a:buNone/>
                </a:pPr>
                <a:endParaRPr lang="en-IN" sz="2400" dirty="0"/>
              </a:p>
              <a:p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𝐵𝑃</m:t>
                    </m:r>
                  </m:oMath>
                </a14:m>
                <a:r>
                  <a:rPr lang="en-IN" sz="2400" dirty="0"/>
                  <a:t>= brevity penalty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ar-AE" sz="2400" dirty="0"/>
                  <a:t>= </a:t>
                </a:r>
                <a:r>
                  <a:rPr lang="en-IN" sz="2400" dirty="0"/>
                  <a:t>precision for n-grams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ar-AE" sz="2400" dirty="0"/>
                  <a:t>= </a:t>
                </a:r>
                <a:r>
                  <a:rPr lang="en-IN" sz="2400" dirty="0"/>
                  <a:t>weight for each n-gram</a:t>
                </a:r>
              </a:p>
              <a:p>
                <a:endParaRPr lang="en-IN" sz="2400" dirty="0"/>
              </a:p>
              <a:p>
                <a:endParaRPr lang="en-US" sz="2400" dirty="0"/>
              </a:p>
              <a:p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0DD1FF-FA52-590A-47DE-6E8F62D33B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481496"/>
                <a:ext cx="10744200" cy="4351338"/>
              </a:xfrm>
              <a:blipFill>
                <a:blip r:embed="rId2"/>
                <a:stretch>
                  <a:fillRect l="-851" t="-26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E810979D-E876-B0DE-3C32-784DE610B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4279" y="3979313"/>
            <a:ext cx="4916590" cy="1674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015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AAA9B-97C0-5A81-7724-832C40793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613" y="678426"/>
            <a:ext cx="10862187" cy="54985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“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mat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.”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Generated: “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mat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.”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Overlapping words: “The”, “cat”, “on”, “the”, “mat”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BLEU score ≈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0.7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(good overlap)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BLEU score → higher overlap = higher BLEU.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focuses on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exact word overlap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on meaning or fluency.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two sentences with the same meaning but different words may get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BLEU score.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017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E3BDD-6C64-D242-CFF1-E3C505612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65125"/>
            <a:ext cx="11049000" cy="1325563"/>
          </a:xfrm>
        </p:spPr>
        <p:txBody>
          <a:bodyPr>
            <a:noAutofit/>
          </a:bodyPr>
          <a:lstStyle/>
          <a:p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ROUGE (Recall-Oriented Understudy for </a:t>
            </a:r>
            <a:r>
              <a:rPr 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Gisting</a:t>
            </a: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Evaluation)</a:t>
            </a:r>
            <a:b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77BFA-450C-0FC5-6216-FAEEF83D1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755" y="1288026"/>
            <a:ext cx="10636045" cy="4888937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Summarization and text generation.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how much of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information from the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text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appears in the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text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1.Tokenization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2.Count Overlaps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3.Compute Recall				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4.Calculate Rouge Variants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ACFC57-CA21-ED79-EAB4-E1047B3E8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9235" y="5296964"/>
            <a:ext cx="5847520" cy="104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455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9CCEF-1D6E-3412-498F-419853BDE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496" y="407504"/>
            <a:ext cx="11073046" cy="604245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Summary: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Prime Minister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announced a new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policy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focusing on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creation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renewable energy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.”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Summary: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Prime Minister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introduced 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plan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jobs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promote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green energy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.”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Prime Minister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policy/plan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creation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renewable/green energy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appear.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though wording differs,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content is preserved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ROUGE score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Summary: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“The company reported record profits this quarter due to increased sales.”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Summary: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“Sales have dropped, leading to a loss this quarter.”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meaning and no overlapping key phrases —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ROUGE score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because content mismatch.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3497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291FD-C398-82FB-DE1E-60FC728BC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861" y="636103"/>
            <a:ext cx="10677939" cy="5540859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ROUGE Variants: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ROUGE-1: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unigram (word) overlap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ROUGE-2: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bigram (two-word sequence) overlap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ROUGE-L: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ROUGE-S: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skip-bigrams (allows gaps) explain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marL="0" indent="0">
              <a:buNone/>
            </a:pPr>
            <a:r>
              <a:rPr lang="en-US" dirty="0"/>
              <a:t>Reference → “The cat is on the mat”</a:t>
            </a:r>
            <a:br>
              <a:rPr lang="en-US" dirty="0"/>
            </a:br>
            <a:r>
              <a:rPr lang="en-US" dirty="0"/>
              <a:t>Generated → “The cat lies on the mat”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125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EC94D-A439-DCEC-8204-E777DD55A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148" y="375064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evaluation</a:t>
            </a:r>
            <a:endParaRPr lang="en-IN" sz="4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9B462-E951-60D2-7D41-5E05B1A09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Human evaluation means real people (often </a:t>
            </a:r>
            <a:r>
              <a:rPr lang="en-US" b="1" dirty="0"/>
              <a:t>experts or crowd workers</a:t>
            </a:r>
            <a:r>
              <a:rPr lang="en-US" dirty="0"/>
              <a:t>) read both the </a:t>
            </a:r>
            <a:r>
              <a:rPr lang="en-US" b="1" dirty="0"/>
              <a:t>system-generated text</a:t>
            </a:r>
            <a:r>
              <a:rPr lang="en-US" dirty="0"/>
              <a:t> and sometimes the </a:t>
            </a:r>
            <a:r>
              <a:rPr lang="en-US" b="1" dirty="0"/>
              <a:t>reference text</a:t>
            </a:r>
            <a:r>
              <a:rPr lang="en-US" dirty="0"/>
              <a:t>, and </a:t>
            </a:r>
            <a:r>
              <a:rPr lang="en-US" b="1" dirty="0"/>
              <a:t>judge</a:t>
            </a:r>
            <a:r>
              <a:rPr lang="en-US" dirty="0"/>
              <a:t> the quality based on specific criteria.</a:t>
            </a:r>
          </a:p>
          <a:p>
            <a:r>
              <a:rPr lang="en-US" dirty="0"/>
              <a:t>Unlike ROUGE (which just counts word overlap), human evaluators can </a:t>
            </a:r>
            <a:r>
              <a:rPr lang="en-US" b="1" dirty="0"/>
              <a:t>understand meaning</a:t>
            </a:r>
            <a:r>
              <a:rPr lang="en-US" dirty="0"/>
              <a:t>, </a:t>
            </a:r>
            <a:r>
              <a:rPr lang="en-US" b="1" dirty="0"/>
              <a:t>context</a:t>
            </a:r>
            <a:r>
              <a:rPr lang="en-US" dirty="0"/>
              <a:t>, and </a:t>
            </a:r>
            <a:r>
              <a:rPr lang="en-US" b="1" dirty="0"/>
              <a:t>tone</a:t>
            </a:r>
            <a:r>
              <a:rPr lang="en-US" dirty="0"/>
              <a:t>  things automated metrics can’t fully capture.</a:t>
            </a:r>
          </a:p>
          <a:p>
            <a:endParaRPr lang="en-IN" dirty="0"/>
          </a:p>
        </p:txBody>
      </p:sp>
      <p:pic>
        <p:nvPicPr>
          <p:cNvPr id="7170" name="Picture 2" descr="51+ Thousand Correction Paper Royalty ...">
            <a:extLst>
              <a:ext uri="{FF2B5EF4-FFF2-40B4-BE49-F238E27FC236}">
                <a16:creationId xmlns:a16="http://schemas.microsoft.com/office/drawing/2014/main" id="{FBC35958-9E31-7AF4-6EE6-E0BB528BFB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2000" y="4209491"/>
            <a:ext cx="3980000" cy="2648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0416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CF46A-03CF-4F1E-A28C-EAD5B414C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713" y="675861"/>
            <a:ext cx="10817087" cy="5501102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Criteria for Human Evaluation in Summarization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Fluency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/>
              <a:t>Is the summary grammatically correct and easy to read?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Coherence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/>
              <a:t>Does the summary flow logically from one sentence to the next?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/>
              <a:t>Does it include the key points from the original text?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/>
              <a:t>Are all details important and related to the topic?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Conciseness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/>
              <a:t>Is it short yet complete (no redundancy)?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Factual consistency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/>
              <a:t>Are the facts correct compared to the source text?</a:t>
            </a:r>
          </a:p>
        </p:txBody>
      </p:sp>
    </p:spTree>
    <p:extLst>
      <p:ext uri="{BB962C8B-B14F-4D97-AF65-F5344CB8AC3E}">
        <p14:creationId xmlns:p14="http://schemas.microsoft.com/office/powerpoint/2010/main" val="712706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EDD83-8FCC-E62B-DD38-7F07B3405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504" y="487017"/>
            <a:ext cx="10946296" cy="56899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Human Evaluation Works (Step-by-Step)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Selection: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a set of documents and their summaries (system + reference).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Evaluation Form: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rating form — usually with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Likert scale (1–5)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pairwise comparison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= Poor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= Excellent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Raters: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Recruit multiple human judges (to avoid bias).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Scoring: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summary gets an average score across criteria and raters.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systems based on average human scores.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8653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E9B75-A7A6-9C8E-F9C0-062FD4216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113" y="228600"/>
            <a:ext cx="11045687" cy="594836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Example:</a:t>
            </a:r>
          </a:p>
          <a:p>
            <a:pPr marL="0" indent="0">
              <a:buNone/>
            </a:pPr>
            <a:r>
              <a:rPr lang="en-US" sz="1800" b="1" dirty="0"/>
              <a:t>Original article:</a:t>
            </a:r>
            <a:endParaRPr lang="en-US" sz="1800" dirty="0"/>
          </a:p>
          <a:p>
            <a:r>
              <a:rPr lang="en-US" sz="1800" dirty="0"/>
              <a:t>“Apple released its new iPhone 16 with advanced AI features at an event in California.”</a:t>
            </a:r>
          </a:p>
          <a:p>
            <a:pPr marL="0" indent="0">
              <a:buNone/>
            </a:pPr>
            <a:r>
              <a:rPr lang="en-US" sz="1800" b="1" dirty="0"/>
              <a:t>Summary A (System 1):</a:t>
            </a:r>
            <a:endParaRPr lang="en-US" sz="1800" dirty="0"/>
          </a:p>
          <a:p>
            <a:r>
              <a:rPr lang="en-US" sz="1800" dirty="0"/>
              <a:t>“Apple introduced the iPhone 16 with new AI capabilities.”</a:t>
            </a:r>
          </a:p>
          <a:p>
            <a:pPr marL="0" indent="0">
              <a:buNone/>
            </a:pPr>
            <a:r>
              <a:rPr lang="en-US" sz="1800" b="1" dirty="0"/>
              <a:t>Summary B (System 2):</a:t>
            </a:r>
            <a:endParaRPr lang="en-US" sz="1800" dirty="0"/>
          </a:p>
          <a:p>
            <a:r>
              <a:rPr lang="en-US" sz="1800" dirty="0"/>
              <a:t>“Apple held an event in California.”</a:t>
            </a:r>
          </a:p>
          <a:p>
            <a:r>
              <a:rPr lang="en-US" sz="1800" dirty="0"/>
              <a:t>In this example, Human evaluation shows </a:t>
            </a:r>
            <a:r>
              <a:rPr lang="en-US" sz="1800" b="1" dirty="0"/>
              <a:t>Summary A</a:t>
            </a:r>
            <a:r>
              <a:rPr lang="en-US" sz="1800" dirty="0"/>
              <a:t> is much better — even if both might get similar ROUGE scores.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A9D8F7A-8FDA-045A-3B79-4923D9C5F7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420694"/>
              </p:ext>
            </p:extLst>
          </p:nvPr>
        </p:nvGraphicFramePr>
        <p:xfrm>
          <a:off x="838200" y="3560590"/>
          <a:ext cx="7500729" cy="2194560"/>
        </p:xfrm>
        <a:graphic>
          <a:graphicData uri="http://schemas.openxmlformats.org/drawingml/2006/table">
            <a:tbl>
              <a:tblPr/>
              <a:tblGrid>
                <a:gridCol w="2500243">
                  <a:extLst>
                    <a:ext uri="{9D8B030D-6E8A-4147-A177-3AD203B41FA5}">
                      <a16:colId xmlns:a16="http://schemas.microsoft.com/office/drawing/2014/main" val="2323591406"/>
                    </a:ext>
                  </a:extLst>
                </a:gridCol>
                <a:gridCol w="2500243">
                  <a:extLst>
                    <a:ext uri="{9D8B030D-6E8A-4147-A177-3AD203B41FA5}">
                      <a16:colId xmlns:a16="http://schemas.microsoft.com/office/drawing/2014/main" val="2210432833"/>
                    </a:ext>
                  </a:extLst>
                </a:gridCol>
                <a:gridCol w="2500243">
                  <a:extLst>
                    <a:ext uri="{9D8B030D-6E8A-4147-A177-3AD203B41FA5}">
                      <a16:colId xmlns:a16="http://schemas.microsoft.com/office/drawing/2014/main" val="622516863"/>
                    </a:ext>
                  </a:extLst>
                </a:gridCol>
              </a:tblGrid>
              <a:tr h="2712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Criteria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Summary 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Summary 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0527448"/>
                  </a:ext>
                </a:extLst>
              </a:tr>
              <a:tr h="2712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Fluency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3171970"/>
                  </a:ext>
                </a:extLst>
              </a:tr>
              <a:tr h="2712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Completeness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3139"/>
                  </a:ext>
                </a:extLst>
              </a:tr>
              <a:tr h="2712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Relevance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2884808"/>
                  </a:ext>
                </a:extLst>
              </a:tr>
              <a:tr h="2712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Conciseness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7243908"/>
                  </a:ext>
                </a:extLst>
              </a:tr>
              <a:tr h="2712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Overall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5.0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3.75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69581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8337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DF01C-2F27-1408-24FE-BFD4F6741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731" y="247373"/>
            <a:ext cx="10273748" cy="867327"/>
          </a:xfrm>
        </p:spPr>
        <p:txBody>
          <a:bodyPr>
            <a:normAutofit/>
          </a:bodyPr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Table: BLEU vs ROUGE vs Human Evaluation</a:t>
            </a:r>
            <a:endParaRPr lang="en-IN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401B419-4E13-0363-6754-B827C1042D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1565660"/>
              </p:ext>
            </p:extLst>
          </p:nvPr>
        </p:nvGraphicFramePr>
        <p:xfrm>
          <a:off x="612775" y="1359694"/>
          <a:ext cx="10515600" cy="45720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42729709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4570068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2082137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415244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Aspect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BLEU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ROUGE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Human Evaluation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289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Type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Automatic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Automatic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Manual (done by people)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0373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Focus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Precision – how much generated text matches the reference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Recall – how much important content from the reference is covered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Meaning, fluency, coherence, and factual 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9346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Basis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n-gram overlap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n-gram, longest common subsequence, skip-bigrams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Human understanding and judgment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951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Meaning Understanding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5345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Common Use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Machine Translation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Text Summarization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Any NLP task needing quality assessment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99100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Speed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Fast and automatic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Fast and automatic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Slow and time-consuming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113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Accuracy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Quantitative but limited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Quantitative but limited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Most accurate and reliable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24369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92085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39C9B-D58F-D8FE-581C-64F9E3F18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277" y="2812982"/>
            <a:ext cx="10515600" cy="2852737"/>
          </a:xfrm>
        </p:spPr>
        <p:txBody>
          <a:bodyPr>
            <a:normAutofit/>
          </a:bodyPr>
          <a:lstStyle/>
          <a:p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You..</a:t>
            </a:r>
            <a:endParaRPr lang="en-IN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D852C2-996B-985A-08EB-599E763951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4517" y="695325"/>
            <a:ext cx="4396339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044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1050</Words>
  <Application>Microsoft Office PowerPoint</Application>
  <PresentationFormat>Widescreen</PresentationFormat>
  <Paragraphs>144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Evaluating LLM Output Quality BLEU, ROUGE, and  Human Eval</vt:lpstr>
      <vt:lpstr>Large Language Model</vt:lpstr>
      <vt:lpstr>Types of LLM Evaluation</vt:lpstr>
      <vt:lpstr>BLEU (Bilingual Evaluation Understudy)</vt:lpstr>
      <vt:lpstr>PowerPoint Presentation</vt:lpstr>
      <vt:lpstr>ROUGE (Recall-Oriented Understudy for Gisting Evaluation) </vt:lpstr>
      <vt:lpstr>PowerPoint Presentation</vt:lpstr>
      <vt:lpstr>PowerPoint Presentation</vt:lpstr>
      <vt:lpstr>Human evaluation</vt:lpstr>
      <vt:lpstr>PowerPoint Presentation</vt:lpstr>
      <vt:lpstr>PowerPoint Presentation</vt:lpstr>
      <vt:lpstr>PowerPoint Presentation</vt:lpstr>
      <vt:lpstr>Comparison Table: BLEU vs ROUGE vs Human Evaluation</vt:lpstr>
      <vt:lpstr>Thank You..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 Bharathi B</dc:creator>
  <cp:lastModifiedBy>Priya Bharathi B</cp:lastModifiedBy>
  <cp:revision>2</cp:revision>
  <dcterms:created xsi:type="dcterms:W3CDTF">2025-10-21T10:19:06Z</dcterms:created>
  <dcterms:modified xsi:type="dcterms:W3CDTF">2025-10-21T14:48:44Z</dcterms:modified>
</cp:coreProperties>
</file>